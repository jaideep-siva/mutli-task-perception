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0972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MULTI-TASK PERCEPTION FOR ROBOTICS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34747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2E8F0"/>
                </a:solidFill>
              </a:rPr>
              <a:t>Model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60120"/>
            <a:ext cx="1417320" cy="2926080"/>
          </a:xfrm>
          <a:prstGeom prst="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1051560"/>
            <a:ext cx="1271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BD5E1"/>
                </a:solidFill>
              </a:rPr>
              <a:t>INPUT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1280160"/>
            <a:ext cx="1271016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BD5E1"/>
                </a:solidFill>
              </a:rPr>
              <a:t>Equirectangular
360° camera frame
1 × 3 × 640 × 1280
RGB · float32
ImageNet normalised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691640" y="2404872.0"/>
            <a:ext cx="228600" cy="0.0"/>
          </a:xfrm>
          <a:prstGeom prst="line">
            <a:avLst/>
          </a:prstGeom>
          <a:ln w="1905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1920240" y="960120"/>
            <a:ext cx="2011680" cy="2926080"/>
          </a:xfrm>
          <a:prstGeom prst="rect">
            <a:avLst/>
          </a:prstGeom>
          <a:solidFill>
            <a:srgbClr val="1E293B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93392" y="1051560"/>
            <a:ext cx="18653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60A5FA"/>
                </a:solidFill>
              </a:rPr>
              <a:t>BACKBONE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93392" y="1280160"/>
            <a:ext cx="1865376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BD5E1"/>
                </a:solidFill>
              </a:rPr>
              <a:t>ResNet-18      ★ deploy
ConvNeXt-B   89M params
Swin-B            transformer
HRNet-W32     custom
Outputs:
C3  stride 8  (fine detail)
C4  stride 16 (semantics)
C5  stride 32 (context)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931920" y="2404872.0"/>
            <a:ext cx="228600" cy="0.0"/>
          </a:xfrm>
          <a:prstGeom prst="line">
            <a:avLst/>
          </a:prstGeom>
          <a:ln w="1905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4160520" y="960120"/>
            <a:ext cx="1828800" cy="2926080"/>
          </a:xfrm>
          <a:prstGeom prst="rect">
            <a:avLst/>
          </a:prstGeom>
          <a:solidFill>
            <a:srgbClr val="1E293B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33672" y="1051560"/>
            <a:ext cx="16824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84FC"/>
                </a:solidFill>
              </a:rPr>
              <a:t>FPN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33672" y="1280160"/>
            <a:ext cx="1682496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BD5E1"/>
                </a:solidFill>
              </a:rPr>
              <a:t>Top-down feature fusion
C5 ──► P5
         ↓ ×2
C4 ──► P4 + up(P5)
         ↓ ×2
C3 ──► P3 + up(P4)
All levels: 256 channels
Lateral 1×1 convolutions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89320" y="2404872.0"/>
            <a:ext cx="228600" cy="0.0"/>
          </a:xfrm>
          <a:prstGeom prst="line">
            <a:avLst/>
          </a:prstGeom>
          <a:ln w="1905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6217920" y="960120"/>
            <a:ext cx="3017520" cy="1389888"/>
          </a:xfrm>
          <a:prstGeom prst="rect">
            <a:avLst/>
          </a:prstGeom>
          <a:solidFill>
            <a:srgbClr val="1E293B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91072" y="1024128"/>
            <a:ext cx="28712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ADE80"/>
                </a:solidFill>
              </a:rPr>
              <a:t>DETECTION HEAD — FCOS (anchor-free)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1072" y="1234440"/>
            <a:ext cx="287121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BD5E1"/>
                </a:solidFill>
              </a:rPr>
              <a:t>Per cell: 4 LTRB offsets · 1 objectness · 6 class logits (11 total)
P3 → 11×80×160   P4 → 11×40×80   P5 → 11×20×40
Post: sigmoid · decode LTRB · NMS (IoU 0.5) · top-100
Loss: Focal (objectness) + L1 (box) + CrossEntropy (class)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2496312"/>
            <a:ext cx="3017520" cy="1389888"/>
          </a:xfrm>
          <a:prstGeom prst="rect">
            <a:avLst/>
          </a:prstGeom>
          <a:solidFill>
            <a:srgbClr val="1E293B"/>
          </a:solidFill>
          <a:ln w="1905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91072" y="2560320"/>
            <a:ext cx="28712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B923C"/>
                </a:solidFill>
              </a:rPr>
              <a:t>SEGMENTATION HEAD — Lane Mask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91072" y="2770632"/>
            <a:ext cx="287121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BD5E1"/>
                </a:solidFill>
              </a:rPr>
              <a:t>P3 + P4↑ + P5↑ → concat → 1×1 conv → bilinear upsample
Output: 2 × 640 × 1280   →   argmax → 0 bg · 1 lane
ROI masking · pseudo-label confidence weighting
Loss: Cross-Entropy (default) or Dice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4160520"/>
            <a:ext cx="2148840" cy="713232"/>
          </a:xfrm>
          <a:prstGeom prst="rect">
            <a:avLst/>
          </a:prstGeom>
          <a:solidFill>
            <a:srgbClr val="1E293B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4215384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0A5FA"/>
                </a:solidFill>
              </a:rPr>
              <a:t>Single Forward Pass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448056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4748B"/>
                </a:solidFill>
              </a:rPr>
              <a:t>detection + segmentation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87752" y="4160520"/>
            <a:ext cx="2148840" cy="713232"/>
          </a:xfrm>
          <a:prstGeom prst="rect">
            <a:avLst/>
          </a:prstGeom>
          <a:solidFill>
            <a:srgbClr val="1E293B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79192" y="4215384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ADE80"/>
                </a:solidFill>
              </a:rPr>
              <a:t>15.9 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79192" y="448056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4748B"/>
                </a:solidFill>
              </a:rPr>
              <a:t>ResNet-18 · PyTorch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01184" y="4160520"/>
            <a:ext cx="2148840" cy="713232"/>
          </a:xfrm>
          <a:prstGeom prst="rect">
            <a:avLst/>
          </a:prstGeom>
          <a:solidFill>
            <a:srgbClr val="1E293B"/>
          </a:solidFill>
          <a:ln w="1270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92624" y="4215384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084FC"/>
                </a:solidFill>
              </a:rPr>
              <a:t>~11 M params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92624" y="448056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4748B"/>
                </a:solidFill>
              </a:rPr>
              <a:t>ResNet-18 backbone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14616" y="4160520"/>
            <a:ext cx="2148840" cy="713232"/>
          </a:xfrm>
          <a:prstGeom prst="rect">
            <a:avLst/>
          </a:prstGeom>
          <a:solidFill>
            <a:srgbClr val="1E293B"/>
          </a:solidFill>
          <a:ln w="127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06056" y="4215384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B923C"/>
                </a:solidFill>
              </a:rPr>
              <a:t>452 MB GPU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06056" y="448056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4748B"/>
                </a:solidFill>
              </a:rPr>
              <a:t>peak memory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528048" y="4160520"/>
            <a:ext cx="2148840" cy="713232"/>
          </a:xfrm>
          <a:prstGeom prst="rect">
            <a:avLst/>
          </a:prstGeom>
          <a:solidFill>
            <a:srgbClr val="1E293B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19488" y="4215384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BBF24"/>
                </a:solidFill>
              </a:rPr>
              <a:t>6 Classes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19488" y="448056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4748B"/>
                </a:solidFill>
              </a:rPr>
              <a:t>barrel · pedestrian · stop sign
unknown · tire · pothole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704320" y="662940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475569"/>
                </a:solidFill>
              </a:rPr>
              <a:t>1 /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0972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BACKBONE SWEEP — ~1,400 ANNOTATED 640×1280 FRAMES · AdamW · EARLY STOPPING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34747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2E8F0"/>
                </a:solidFill>
              </a:rPr>
              <a:t>Model Performance Comparison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841248"/>
          <a:ext cx="804672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640080"/>
                <a:gridCol w="685800"/>
                <a:gridCol w="685800"/>
                <a:gridCol w="685800"/>
                <a:gridCol w="685800"/>
                <a:gridCol w="685800"/>
                <a:gridCol w="777240"/>
                <a:gridCol w="548640"/>
                <a:gridCol w="731520"/>
                <a:gridCol w="731520"/>
              </a:tblGrid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64748B"/>
                          </a:solidFill>
                        </a:rPr>
                        <a:t>Backbone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64748B"/>
                          </a:solidFill>
                        </a:rPr>
                        <a:t>Params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64748B"/>
                          </a:solidFill>
                        </a:rPr>
                        <a:t>mAP</a:t>
                      </a:r>
                    </a:p>
                    <a:p>
                      <a:r>
                        <a:t>0.5:0.95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64748B"/>
                          </a:solidFill>
                        </a:rPr>
                        <a:t>mAP@50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64748B"/>
                          </a:solidFill>
                        </a:rPr>
                        <a:t>mAP@75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64748B"/>
                          </a:solidFill>
                        </a:rPr>
                        <a:t>Lane IoU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64748B"/>
                          </a:solidFill>
                        </a:rPr>
                        <a:t>Lane Dice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64748B"/>
                          </a:solidFill>
                        </a:rPr>
                        <a:t>Latency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64748B"/>
                          </a:solidFill>
                        </a:rPr>
                        <a:t>FPS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64748B"/>
                          </a:solidFill>
                        </a:rPr>
                        <a:t>GPU RAM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64748B"/>
                          </a:solidFill>
                        </a:rPr>
                        <a:t>Trained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4ADE80"/>
                          </a:solidFill>
                        </a:rPr>
                        <a:t>ResNet-18 ★</a:t>
                      </a:r>
                    </a:p>
                  </a:txBody>
                  <a:tcPr>
                    <a:solidFill>
                      <a:srgbClr val="0F172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E2E8F0"/>
                          </a:solidFill>
                        </a:rPr>
                        <a:t>11 M</a:t>
                      </a:r>
                    </a:p>
                  </a:txBody>
                  <a:tcPr>
                    <a:solidFill>
                      <a:srgbClr val="0F172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4ADE80"/>
                          </a:solidFill>
                        </a:rPr>
                        <a:t>0.248</a:t>
                      </a:r>
                    </a:p>
                  </a:txBody>
                  <a:tcPr>
                    <a:solidFill>
                      <a:srgbClr val="0F172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4ADE80"/>
                          </a:solidFill>
                        </a:rPr>
                        <a:t>0.559</a:t>
                      </a:r>
                    </a:p>
                  </a:txBody>
                  <a:tcPr>
                    <a:solidFill>
                      <a:srgbClr val="0F172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E2E8F0"/>
                          </a:solidFill>
                        </a:rPr>
                        <a:t>0.098</a:t>
                      </a:r>
                    </a:p>
                  </a:txBody>
                  <a:tcPr>
                    <a:solidFill>
                      <a:srgbClr val="0F172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4ADE80"/>
                          </a:solidFill>
                        </a:rPr>
                        <a:t>0.901</a:t>
                      </a:r>
                    </a:p>
                  </a:txBody>
                  <a:tcPr>
                    <a:solidFill>
                      <a:srgbClr val="0F172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4ADE80"/>
                          </a:solidFill>
                        </a:rPr>
                        <a:t>0.945</a:t>
                      </a:r>
                    </a:p>
                  </a:txBody>
                  <a:tcPr>
                    <a:solidFill>
                      <a:srgbClr val="0F172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4ADE80"/>
                          </a:solidFill>
                        </a:rPr>
                        <a:t>15.9 ms</a:t>
                      </a:r>
                    </a:p>
                  </a:txBody>
                  <a:tcPr>
                    <a:solidFill>
                      <a:srgbClr val="0F172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4ADE80"/>
                          </a:solidFill>
                        </a:rPr>
                        <a:t>62.9</a:t>
                      </a:r>
                    </a:p>
                  </a:txBody>
                  <a:tcPr>
                    <a:solidFill>
                      <a:srgbClr val="0F172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4ADE80"/>
                          </a:solidFill>
                        </a:rPr>
                        <a:t>452 MB</a:t>
                      </a:r>
                    </a:p>
                  </a:txBody>
                  <a:tcPr>
                    <a:solidFill>
                      <a:srgbClr val="0F172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FBBF24"/>
                          </a:solidFill>
                        </a:rPr>
                        <a:t>40/50 ep</a:t>
                      </a:r>
                    </a:p>
                  </a:txBody>
                  <a:tcPr>
                    <a:solidFill>
                      <a:srgbClr val="0F172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60A5FA"/>
                          </a:solidFill>
                        </a:rPr>
                        <a:t>ConvNeXt-Base</a:t>
                      </a:r>
                    </a:p>
                  </a:txBody>
                  <a:tcPr>
                    <a:solidFill>
                      <a:srgbClr val="0F172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E2E8F0"/>
                          </a:solidFill>
                        </a:rPr>
                        <a:t>89 M</a:t>
                      </a:r>
                    </a:p>
                  </a:txBody>
                  <a:tcPr>
                    <a:solidFill>
                      <a:srgbClr val="0F172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E2E8F0"/>
                          </a:solidFill>
                        </a:rPr>
                        <a:t>0.224</a:t>
                      </a:r>
                    </a:p>
                  </a:txBody>
                  <a:tcPr>
                    <a:solidFill>
                      <a:srgbClr val="0F172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E2E8F0"/>
                          </a:solidFill>
                        </a:rPr>
                        <a:t>0.461</a:t>
                      </a:r>
                    </a:p>
                  </a:txBody>
                  <a:tcPr>
                    <a:solidFill>
                      <a:srgbClr val="0F172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4ADE80"/>
                          </a:solidFill>
                        </a:rPr>
                        <a:t>0.125</a:t>
                      </a:r>
                    </a:p>
                  </a:txBody>
                  <a:tcPr>
                    <a:solidFill>
                      <a:srgbClr val="0F172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E2E8F0"/>
                          </a:solidFill>
                        </a:rPr>
                        <a:t>0.884</a:t>
                      </a:r>
                    </a:p>
                  </a:txBody>
                  <a:tcPr>
                    <a:solidFill>
                      <a:srgbClr val="0F172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E2E8F0"/>
                          </a:solidFill>
                        </a:rPr>
                        <a:t>0.933</a:t>
                      </a:r>
                    </a:p>
                  </a:txBody>
                  <a:tcPr>
                    <a:solidFill>
                      <a:srgbClr val="0F172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E2E8F0"/>
                          </a:solidFill>
                        </a:rPr>
                        <a:t>206 ms</a:t>
                      </a:r>
                    </a:p>
                  </a:txBody>
                  <a:tcPr>
                    <a:solidFill>
                      <a:srgbClr val="0F172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E2E8F0"/>
                          </a:solidFill>
                        </a:rPr>
                        <a:t>4.8</a:t>
                      </a:r>
                    </a:p>
                  </a:txBody>
                  <a:tcPr>
                    <a:solidFill>
                      <a:srgbClr val="0F172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E2E8F0"/>
                          </a:solidFill>
                        </a:rPr>
                        <a:t>1,771 MB</a:t>
                      </a:r>
                    </a:p>
                  </a:txBody>
                  <a:tcPr>
                    <a:solidFill>
                      <a:srgbClr val="0F172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F87171"/>
                          </a:solidFill>
                        </a:rPr>
                        <a:t>13/50 ep</a:t>
                      </a:r>
                    </a:p>
                  </a:txBody>
                  <a:tcPr>
                    <a:solidFill>
                      <a:srgbClr val="0F172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C084FC"/>
                          </a:solidFill>
                        </a:rPr>
                        <a:t>Swin-B</a:t>
                      </a:r>
                    </a:p>
                  </a:txBody>
                  <a:tcPr>
                    <a:solidFill>
                      <a:srgbClr val="0F172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E2E8F0"/>
                          </a:solidFill>
                        </a:rPr>
                        <a:t>88 M</a:t>
                      </a:r>
                    </a:p>
                  </a:txBody>
                  <a:tcPr>
                    <a:solidFill>
                      <a:srgbClr val="0F172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475569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0F172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475569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0F172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475569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0F172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475569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0F172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475569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0F172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475569"/>
                          </a:solidFill>
                        </a:rPr>
                        <a:t>~150 ms†</a:t>
                      </a:r>
                    </a:p>
                  </a:txBody>
                  <a:tcPr>
                    <a:solidFill>
                      <a:srgbClr val="0F172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475569"/>
                          </a:solidFill>
                        </a:rPr>
                        <a:t>~7†</a:t>
                      </a:r>
                    </a:p>
                  </a:txBody>
                  <a:tcPr>
                    <a:solidFill>
                      <a:srgbClr val="0F172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475569"/>
                          </a:solidFill>
                        </a:rPr>
                        <a:t>~2,000 MB†</a:t>
                      </a:r>
                    </a:p>
                  </a:txBody>
                  <a:tcPr>
                    <a:solidFill>
                      <a:srgbClr val="0F172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475569"/>
                          </a:solidFill>
                        </a:rPr>
                        <a:t>pending</a:t>
                      </a:r>
                    </a:p>
                  </a:txBody>
                  <a:tcPr>
                    <a:solidFill>
                      <a:srgbClr val="0F172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FB923C"/>
                          </a:solidFill>
                        </a:rPr>
                        <a:t>HRNet-W32*</a:t>
                      </a:r>
                    </a:p>
                  </a:txBody>
                  <a:tcPr>
                    <a:solidFill>
                      <a:srgbClr val="0F172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E2E8F0"/>
                          </a:solidFill>
                        </a:rPr>
                        <a:t>29 M</a:t>
                      </a:r>
                    </a:p>
                  </a:txBody>
                  <a:tcPr>
                    <a:solidFill>
                      <a:srgbClr val="0F172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475569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0F172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475569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0F172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475569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0F172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475569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0F172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475569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0F172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475569"/>
                          </a:solidFill>
                        </a:rPr>
                        <a:t>~80 ms†</a:t>
                      </a:r>
                    </a:p>
                  </a:txBody>
                  <a:tcPr>
                    <a:solidFill>
                      <a:srgbClr val="0F172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475569"/>
                          </a:solidFill>
                        </a:rPr>
                        <a:t>~12†</a:t>
                      </a:r>
                    </a:p>
                  </a:txBody>
                  <a:tcPr>
                    <a:solidFill>
                      <a:srgbClr val="0F172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475569"/>
                          </a:solidFill>
                        </a:rPr>
                        <a:t>~900 MB†</a:t>
                      </a:r>
                    </a:p>
                  </a:txBody>
                  <a:tcPr>
                    <a:solidFill>
                      <a:srgbClr val="0F172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475569"/>
                          </a:solidFill>
                        </a:rPr>
                        <a:t>pending</a:t>
                      </a:r>
                    </a:p>
                  </a:txBody>
                  <a:tcPr>
                    <a:solidFill>
                      <a:srgbClr val="0F1725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74320" y="214884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475569"/>
                </a:solidFill>
              </a:rPr>
              <a:t>* Custom lightweight backbone (not full HRNet). † Architecture estimates — sweep pending. Best values in green.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2359152"/>
          <a:ext cx="667512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914400"/>
                <a:gridCol w="1005840"/>
                <a:gridCol w="914400"/>
                <a:gridCol w="914400"/>
                <a:gridCol w="822960"/>
                <a:gridCol w="822960"/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64748B"/>
                          </a:solidFill>
                        </a:rPr>
                        <a:t>Backbone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64748B"/>
                          </a:solidFill>
                        </a:rPr>
                        <a:t>barrel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64748B"/>
                          </a:solidFill>
                        </a:rPr>
                        <a:t>pedestrian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64748B"/>
                          </a:solidFill>
                        </a:rPr>
                        <a:t>stop sign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64748B"/>
                          </a:solidFill>
                        </a:rPr>
                        <a:t>unknown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64748B"/>
                          </a:solidFill>
                        </a:rPr>
                        <a:t>tire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64748B"/>
                          </a:solidFill>
                        </a:rPr>
                        <a:t>pothole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4ADE80"/>
                          </a:solidFill>
                        </a:rPr>
                        <a:t>ResNet-18</a:t>
                      </a:r>
                    </a:p>
                  </a:txBody>
                  <a:tcPr>
                    <a:solidFill>
                      <a:srgbClr val="0F172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E2E8F0"/>
                          </a:solidFill>
                        </a:rPr>
                        <a:t>0.305</a:t>
                      </a:r>
                    </a:p>
                  </a:txBody>
                  <a:tcPr>
                    <a:solidFill>
                      <a:srgbClr val="0F172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E2E8F0"/>
                          </a:solidFill>
                        </a:rPr>
                        <a:t>0.318</a:t>
                      </a:r>
                    </a:p>
                  </a:txBody>
                  <a:tcPr>
                    <a:solidFill>
                      <a:srgbClr val="0F172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E2E8F0"/>
                          </a:solidFill>
                        </a:rPr>
                        <a:t>0.076</a:t>
                      </a:r>
                    </a:p>
                  </a:txBody>
                  <a:tcPr>
                    <a:solidFill>
                      <a:srgbClr val="0F172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E2E8F0"/>
                          </a:solidFill>
                        </a:rPr>
                        <a:t>0.089</a:t>
                      </a:r>
                    </a:p>
                  </a:txBody>
                  <a:tcPr>
                    <a:solidFill>
                      <a:srgbClr val="0F172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E2E8F0"/>
                          </a:solidFill>
                        </a:rPr>
                        <a:t>0.202</a:t>
                      </a:r>
                    </a:p>
                  </a:txBody>
                  <a:tcPr>
                    <a:solidFill>
                      <a:srgbClr val="0F172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E2E8F0"/>
                          </a:solidFill>
                        </a:rPr>
                        <a:t>0.149</a:t>
                      </a:r>
                    </a:p>
                  </a:txBody>
                  <a:tcPr>
                    <a:solidFill>
                      <a:srgbClr val="0F172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60A5FA"/>
                          </a:solidFill>
                        </a:rPr>
                        <a:t>ConvNeXt-B</a:t>
                      </a:r>
                    </a:p>
                  </a:txBody>
                  <a:tcPr>
                    <a:solidFill>
                      <a:srgbClr val="0F172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E2E8F0"/>
                          </a:solidFill>
                        </a:rPr>
                        <a:t>0.300</a:t>
                      </a:r>
                    </a:p>
                  </a:txBody>
                  <a:tcPr>
                    <a:solidFill>
                      <a:srgbClr val="0F172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E2E8F0"/>
                          </a:solidFill>
                        </a:rPr>
                        <a:t>0.263</a:t>
                      </a:r>
                    </a:p>
                  </a:txBody>
                  <a:tcPr>
                    <a:solidFill>
                      <a:srgbClr val="0F172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4ADE80"/>
                          </a:solidFill>
                        </a:rPr>
                        <a:t>0.253</a:t>
                      </a:r>
                    </a:p>
                  </a:txBody>
                  <a:tcPr>
                    <a:solidFill>
                      <a:srgbClr val="0F172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E2E8F0"/>
                          </a:solidFill>
                        </a:rPr>
                        <a:t>0.060</a:t>
                      </a:r>
                    </a:p>
                  </a:txBody>
                  <a:tcPr>
                    <a:solidFill>
                      <a:srgbClr val="0F172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E2E8F0"/>
                          </a:solidFill>
                        </a:rPr>
                        <a:t>0.091</a:t>
                      </a:r>
                    </a:p>
                  </a:txBody>
                  <a:tcPr>
                    <a:solidFill>
                      <a:srgbClr val="0F172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E2E8F0"/>
                          </a:solidFill>
                        </a:rPr>
                        <a:t>0.174</a:t>
                      </a:r>
                    </a:p>
                  </a:txBody>
                  <a:tcPr>
                    <a:solidFill>
                      <a:srgbClr val="0F1725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274320" y="3063240"/>
            <a:ext cx="5669280" cy="914400"/>
          </a:xfrm>
          <a:prstGeom prst="rect">
            <a:avLst/>
          </a:prstGeom>
          <a:solidFill>
            <a:srgbClr val="1E293B"/>
          </a:solidFill>
          <a:ln w="317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3108960"/>
            <a:ext cx="55229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2E8F0"/>
                </a:solidFill>
              </a:rPr>
              <a:t>Why is Lane IoU so high (90%+)?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3291840"/>
            <a:ext cx="552297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CBD5E1"/>
                </a:solidFill>
              </a:rPr>
              <a:t>Segmentation is a binary task — lane vs. background — with consistent visual structure. The head fuses all 3 FPN scales so it sees both fine edge detail and broad scene context.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3063240"/>
            <a:ext cx="5669280" cy="914400"/>
          </a:xfrm>
          <a:prstGeom prst="rect">
            <a:avLst/>
          </a:prstGeom>
          <a:solidFill>
            <a:srgbClr val="1E293B"/>
          </a:solidFill>
          <a:ln w="317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08192" y="3108960"/>
            <a:ext cx="55229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2E8F0"/>
                </a:solidFill>
              </a:rPr>
              <a:t>Why is mAP modest (~0.25)?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08192" y="3291840"/>
            <a:ext cx="552297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CBD5E1"/>
                </a:solidFill>
              </a:rPr>
              <a:t>Only ~1,400 annotated frames. Early stopping cut both runs short. Classes like pothole and unknown have high visual variance and are rare per image — pseudo-labelling will lift these.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4041648"/>
            <a:ext cx="5669280" cy="914400"/>
          </a:xfrm>
          <a:prstGeom prst="rect">
            <a:avLst/>
          </a:prstGeom>
          <a:solidFill>
            <a:srgbClr val="1E293B"/>
          </a:solidFill>
          <a:ln w="3175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" y="4087368"/>
            <a:ext cx="55229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2E8F0"/>
                </a:solidFill>
              </a:rPr>
              <a:t>Why does ResNet-18 beat ConvNeXt overall?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" y="4270248"/>
            <a:ext cx="552297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CBD5E1"/>
                </a:solidFill>
              </a:rPr>
              <a:t>ConvNeXt-B trained only 13/50 epochs before early stopping — heavily under-trained. Its 206 ms latency also makes it impractical for real-time robotics regardless of accuracy.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4041648"/>
            <a:ext cx="5669280" cy="914400"/>
          </a:xfrm>
          <a:prstGeom prst="rect">
            <a:avLst/>
          </a:prstGeom>
          <a:solidFill>
            <a:srgbClr val="1E293B"/>
          </a:solidFill>
          <a:ln w="317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08192" y="4087368"/>
            <a:ext cx="55229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2E8F0"/>
                </a:solidFill>
              </a:rPr>
              <a:t>Why is ConvNeXt mAP@75 higher (0.125 vs 0.098)?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08192" y="4270248"/>
            <a:ext cx="552297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CBD5E1"/>
                </a:solidFill>
              </a:rPr>
              <a:t>Larger receptive field (7×7 depthwise kernels) produces tighter box localisation. Higher mAP@75 = fewer but better-placed detections — quality over quantity.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704320" y="662940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475569"/>
                </a:solidFill>
              </a:rPr>
              <a:t>2 /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0972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DEPLOYMENT RUNTIME ANALYSIS — bars normalised to ConvNeXt-B PyTorch (206 ms = 100%)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34747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2E8F0"/>
                </a:solidFill>
              </a:rPr>
              <a:t>ResNet-18 vs ConvNeXt-Base  ·  PyTorch  ·  ONNX Runtime  ·  TensorRT FP16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96112"/>
            <a:ext cx="5577840" cy="2743200"/>
          </a:xfrm>
          <a:prstGeom prst="rect">
            <a:avLst/>
          </a:prstGeom>
          <a:solidFill>
            <a:srgbClr val="1E293B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0584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ADE80"/>
                </a:solidFill>
              </a:rPr>
              <a:t>ResNet-18  ·  11M params  ·  ★ Recommended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399032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64748B"/>
                </a:solidFill>
              </a:rPr>
              <a:t>PyTorch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0" y="1399032"/>
            <a:ext cx="3200400" cy="27432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45920" y="1399032"/>
            <a:ext cx="246430" cy="274320"/>
          </a:xfrm>
          <a:prstGeom prst="rect">
            <a:avLst/>
          </a:prstGeom>
          <a:solidFill>
            <a:srgbClr val="60A5F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37760" y="1399032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2E8F0"/>
                </a:solidFill>
              </a:rPr>
              <a:t>15.9 ms  ·  62.9 FPS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1627632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4748B"/>
                </a:solidFill>
              </a:rPr>
              <a:t>(measured)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05740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64748B"/>
                </a:solidFill>
              </a:rPr>
              <a:t>ONNX Runtime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45920" y="2057400"/>
            <a:ext cx="3200400" cy="27432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645920" y="2057400"/>
            <a:ext cx="185623" cy="274320"/>
          </a:xfrm>
          <a:prstGeom prst="rect">
            <a:avLst/>
          </a:prstGeom>
          <a:solidFill>
            <a:srgbClr val="C084FC"/>
          </a:solidFill>
          <a:ln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37760" y="205740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2E8F0"/>
                </a:solidFill>
              </a:rPr>
              <a:t>~12 ms   ·  ~83 FPS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2286000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4748B"/>
                </a:solidFill>
              </a:rPr>
              <a:t>(estimated)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2715768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64748B"/>
                </a:solidFill>
              </a:rPr>
              <a:t>TensorRT FP16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45920" y="2715768"/>
            <a:ext cx="3200400" cy="27432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645920" y="2715768"/>
            <a:ext cx="124815" cy="274320"/>
          </a:xfrm>
          <a:prstGeom prst="rect">
            <a:avLst/>
          </a:prstGeom>
          <a:solidFill>
            <a:srgbClr val="4ADE80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37760" y="2715768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2E8F0"/>
                </a:solidFill>
              </a:rPr>
              <a:t>~8 ms     ·  ~125 FPS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2944368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4748B"/>
                </a:solidFill>
              </a:rPr>
              <a:t>(projected)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3319272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TensorRT FP16 speedup:  ~2×  ·  ONNX speedup:  ~1.3×  ·  GPU memory: 452 MB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896112"/>
            <a:ext cx="5577840" cy="2743200"/>
          </a:xfrm>
          <a:prstGeom prst="rect">
            <a:avLst/>
          </a:prstGeom>
          <a:solidFill>
            <a:srgbClr val="1E293B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100584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0A5FA"/>
                </a:solidFill>
              </a:rPr>
              <a:t>ConvNeXt-Base  ·  89M params  ·  13/50 epochs trained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1399032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64748B"/>
                </a:solidFill>
              </a:rPr>
              <a:t>PyTorch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0" y="1399032"/>
            <a:ext cx="3200400" cy="27432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72400" y="1399032"/>
            <a:ext cx="3200400" cy="274320"/>
          </a:xfrm>
          <a:prstGeom prst="rect">
            <a:avLst/>
          </a:prstGeom>
          <a:solidFill>
            <a:srgbClr val="60A5F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064240" y="1399032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2E8F0"/>
                </a:solidFill>
              </a:rPr>
              <a:t>206 ms   ·  4.8 FPS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1627632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4748B"/>
                </a:solidFill>
              </a:rPr>
              <a:t>(measured)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205740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64748B"/>
                </a:solidFill>
              </a:rPr>
              <a:t>ONNX Runtime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0" y="2057400"/>
            <a:ext cx="3200400" cy="27432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0" y="2057400"/>
            <a:ext cx="2486710" cy="274320"/>
          </a:xfrm>
          <a:prstGeom prst="rect">
            <a:avLst/>
          </a:prstGeom>
          <a:solidFill>
            <a:srgbClr val="C084FC"/>
          </a:solidFill>
          <a:ln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064240" y="205740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2E8F0"/>
                </a:solidFill>
              </a:rPr>
              <a:t>~160 ms  ·  ~6 FPS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64240" y="2286000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4748B"/>
                </a:solidFill>
              </a:rPr>
              <a:t>(estimated)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7960" y="2715768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64748B"/>
                </a:solidFill>
              </a:rPr>
              <a:t>TensorRT FP16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772400" y="2715768"/>
            <a:ext cx="3200400" cy="27432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772400" y="2715768"/>
            <a:ext cx="1398574" cy="274320"/>
          </a:xfrm>
          <a:prstGeom prst="rect">
            <a:avLst/>
          </a:prstGeom>
          <a:solidFill>
            <a:srgbClr val="4ADE80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064240" y="2715768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2E8F0"/>
                </a:solidFill>
              </a:rPr>
              <a:t>~90 ms   ·  ~11 FPS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2944368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4748B"/>
                </a:solidFill>
              </a:rPr>
              <a:t>(projected)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37960" y="3319272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TensorRT FP16 speedup:  ~2.3×  ·  ONNX speedup:  ~1.3×  ·  GPU memory: 1,771 MB (4× heavier)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4320" y="3813048"/>
            <a:ext cx="11521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</a:rPr>
              <a:t>■  PyTorch (measured)     ■  ONNX Runtime / CUDA (estimated — typical 25–35% gain)     ■  TensorRT FP16 on Jetson Orin (projected — typical 2–2.5×)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4320" y="4041648"/>
            <a:ext cx="11521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475569"/>
                </a:solidFill>
              </a:rPr>
              <a:t>⚠  ONNX and TensorRT values are estimates from published speedup ratios for architectures of comparable size. Actual benchmark pending.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4206240"/>
            <a:ext cx="3703320" cy="822960"/>
          </a:xfrm>
          <a:prstGeom prst="rect">
            <a:avLst/>
          </a:prstGeom>
          <a:solidFill>
            <a:srgbClr val="1E293B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60" y="4279392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ADE80"/>
                </a:solidFill>
              </a:rPr>
              <a:t>ResNet-18 + TensorRT FP16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" y="4553712"/>
            <a:ext cx="3520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BD5E1"/>
                </a:solidFill>
              </a:rPr>
              <a:t>~8 ms · ~125 FPS
production target for Jetson Orin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197096" y="4206240"/>
            <a:ext cx="3703320" cy="822960"/>
          </a:xfrm>
          <a:prstGeom prst="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288536" y="4279392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BBF24"/>
                </a:solidFill>
              </a:rPr>
              <a:t>ConvNeXt-B cannot meet real-time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288536" y="4553712"/>
            <a:ext cx="3520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BD5E1"/>
                </a:solidFill>
              </a:rPr>
              <a:t>Even with TensorRT, ~90 ms exceeds
most 30 FPS robot control loops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119872" y="4206240"/>
            <a:ext cx="3703320" cy="822960"/>
          </a:xfrm>
          <a:prstGeom prst="rect">
            <a:avLst/>
          </a:prstGeom>
          <a:solidFill>
            <a:srgbClr val="1E293B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11312" y="4279392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084FC"/>
                </a:solidFill>
              </a:rPr>
              <a:t>ONNX: portable middle ground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11312" y="4553712"/>
            <a:ext cx="3520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BD5E1"/>
                </a:solidFill>
              </a:rPr>
              <a:t>No TensorRT install needed, ~30% speedup,
runs on any CUDA-capable device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704320" y="662940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475569"/>
                </a:solidFill>
              </a:rPr>
              <a:t>3 /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0972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LATENCY IN CONTEXT — ROBOTICS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34747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E2E8F0"/>
                </a:solidFill>
              </a:rPr>
              <a:t>Industry Standards &amp; Why Our Model Meets the Bar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96112"/>
            <a:ext cx="3703320" cy="1371600"/>
          </a:xfrm>
          <a:prstGeom prst="rect">
            <a:avLst/>
          </a:prstGeom>
          <a:solidFill>
            <a:srgbClr val="1E293B"/>
          </a:solidFill>
          <a:ln w="254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969264"/>
            <a:ext cx="34838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4ADE80"/>
                </a:solidFill>
              </a:rPr>
              <a:t>~8 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1399032"/>
            <a:ext cx="34838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64748B"/>
                </a:solidFill>
              </a:rPr>
              <a:t>projected · TensorRT FP16 · Jetson Orin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591056"/>
            <a:ext cx="348386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BD5E1"/>
                </a:solidFill>
              </a:rPr>
              <a:t>Our Model — ResNet-18
15.9 ms measured (PyTorch)
Detection + lane seg, single pass
452 MB GPU · 125 FPS projected</a:t>
            </a:r>
          </a:p>
        </p:txBody>
      </p:sp>
      <p:sp>
        <p:nvSpPr>
          <p:cNvPr id="8" name="Rectangle 7"/>
          <p:cNvSpPr/>
          <p:nvPr/>
        </p:nvSpPr>
        <p:spPr>
          <a:xfrm>
            <a:off x="4197096" y="896112"/>
            <a:ext cx="3703320" cy="1371600"/>
          </a:xfrm>
          <a:prstGeom prst="rect">
            <a:avLst/>
          </a:prstGeom>
          <a:solidFill>
            <a:srgbClr val="1E293B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06824" y="969264"/>
            <a:ext cx="34838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BBF24"/>
                </a:solidFill>
              </a:rPr>
              <a:t>50–100 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06824" y="1399032"/>
            <a:ext cx="34838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64748B"/>
                </a:solidFill>
              </a:rPr>
              <a:t>neural network inference budget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06824" y="1591056"/>
            <a:ext cx="348386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BD5E1"/>
                </a:solidFill>
              </a:rPr>
              <a:t>ADAS Industry Target
Tesla FSD · Mobileye EyeQ6
NVIDIA DRIVE Orin full stack
ISO 26262 safety-critical SIL 2+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19872" y="896112"/>
            <a:ext cx="3703320" cy="1371600"/>
          </a:xfrm>
          <a:prstGeom prst="rect">
            <a:avLst/>
          </a:prstGeom>
          <a:solidFill>
            <a:srgbClr val="1E293B"/>
          </a:solidFill>
          <a:ln w="254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969264"/>
            <a:ext cx="34838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87171"/>
                </a:solidFill>
              </a:rPr>
              <a:t>150–300 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1399032"/>
            <a:ext cx="34838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64748B"/>
                </a:solidFill>
              </a:rPr>
              <a:t>simple visual stimulus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1591056"/>
            <a:ext cx="348386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BD5E1"/>
                </a:solidFill>
              </a:rPr>
              <a:t>Human Reaction Time
Avg. ~250 ms (trained driver)
Best-case ~150 ms
Braking adds further 300–700 ms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423160"/>
            <a:ext cx="6748272" cy="164592"/>
          </a:xfrm>
          <a:prstGeom prst="rect">
            <a:avLst/>
          </a:prstGeom>
          <a:solidFill>
            <a:srgbClr val="4ADE80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205472" y="2423160"/>
            <a:ext cx="2811780" cy="164592"/>
          </a:xfrm>
          <a:prstGeom prst="rect">
            <a:avLst/>
          </a:prstGeom>
          <a:solidFill>
            <a:srgbClr val="FBBF24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017252" y="2423160"/>
            <a:ext cx="1687068" cy="164592"/>
          </a:xfrm>
          <a:prstGeom prst="rect">
            <a:avLst/>
          </a:prstGeom>
          <a:solidFill>
            <a:srgbClr val="F87171"/>
          </a:solidFill>
          <a:ln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809835" y="2423160"/>
            <a:ext cx="13716" cy="164592"/>
          </a:xfrm>
          <a:prstGeom prst="rect">
            <a:avLst/>
          </a:prstGeom>
          <a:solidFill>
            <a:srgbClr val="0F1725"/>
          </a:solidFill>
          <a:ln>
            <a:solidFill>
              <a:srgbClr val="0F17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765840" y="2423160"/>
            <a:ext cx="13716" cy="164592"/>
          </a:xfrm>
          <a:prstGeom prst="rect">
            <a:avLst/>
          </a:prstGeom>
          <a:solidFill>
            <a:srgbClr val="0F1725"/>
          </a:solidFill>
          <a:ln>
            <a:solidFill>
              <a:srgbClr val="0F17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50230" y="2423160"/>
            <a:ext cx="13716" cy="164592"/>
          </a:xfrm>
          <a:prstGeom prst="rect">
            <a:avLst/>
          </a:prstGeom>
          <a:solidFill>
            <a:srgbClr val="0F1725"/>
          </a:solidFill>
          <a:ln>
            <a:solidFill>
              <a:srgbClr val="0F17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511131" y="2423160"/>
            <a:ext cx="13716" cy="164592"/>
          </a:xfrm>
          <a:prstGeom prst="rect">
            <a:avLst/>
          </a:prstGeom>
          <a:solidFill>
            <a:srgbClr val="0F1725"/>
          </a:solidFill>
          <a:ln>
            <a:solidFill>
              <a:srgbClr val="0F17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309677" y="2423160"/>
            <a:ext cx="13716" cy="164592"/>
          </a:xfrm>
          <a:prstGeom prst="rect">
            <a:avLst/>
          </a:prstGeom>
          <a:solidFill>
            <a:srgbClr val="0F1725"/>
          </a:solidFill>
          <a:ln>
            <a:solidFill>
              <a:srgbClr val="0F17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321917" y="2423160"/>
            <a:ext cx="13716" cy="164592"/>
          </a:xfrm>
          <a:prstGeom prst="rect">
            <a:avLst/>
          </a:prstGeom>
          <a:solidFill>
            <a:srgbClr val="0F1725"/>
          </a:solidFill>
          <a:ln>
            <a:solidFill>
              <a:srgbClr val="0F17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35515" y="262432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4ADE80"/>
                </a:solidFill>
              </a:rPr>
              <a:t>▲ ~8 ms
(ours TRT)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91520" y="262432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4ADE80"/>
                </a:solidFill>
              </a:rPr>
              <a:t>▲ 15.9 ms
(PyTorch)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75910" y="262432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FBBF24"/>
                </a:solidFill>
              </a:rPr>
              <a:t>50 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6811" y="262432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FBBF24"/>
                </a:solidFill>
              </a:rPr>
              <a:t>100 ms
(ADAS target)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35357" y="262432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F87171"/>
                </a:solidFill>
              </a:rPr>
              <a:t>150 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47597" y="262432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F87171"/>
                </a:solidFill>
              </a:rPr>
              <a:t>250 ms
(human avg.)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299008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475569"/>
                </a:solidFill>
              </a:rPr>
              <a:t>Log scale — each major step is ≈3× slower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274320" y="3090672"/>
          <a:ext cx="100584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828800"/>
                <a:gridCol w="3200400"/>
                <a:gridCol w="2468880"/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64748B"/>
                          </a:solidFill>
                        </a:rPr>
                        <a:t>System / Standard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64748B"/>
                          </a:solidFill>
                        </a:rPr>
                        <a:t>Inference Latency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64748B"/>
                          </a:solidFill>
                        </a:rPr>
                        <a:t>Tasks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64748B"/>
                          </a:solidFill>
                        </a:rPr>
                        <a:t>vs. Our Model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E2E8F0"/>
                          </a:solidFill>
                        </a:rPr>
                        <a:t>Tesla FSD (HW4, 2023–)</a:t>
                      </a:r>
                    </a:p>
                  </a:txBody>
                  <a:tcPr>
                    <a:solidFill>
                      <a:srgbClr val="0F172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E2E8F0"/>
                          </a:solidFill>
                        </a:rPr>
                        <a:t>~10–30 ms</a:t>
                      </a:r>
                    </a:p>
                  </a:txBody>
                  <a:tcPr>
                    <a:solidFill>
                      <a:srgbClr val="0F172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E2E8F0"/>
                          </a:solidFill>
                        </a:rPr>
                        <a:t>Det · seg · depth · occupancy</a:t>
                      </a:r>
                    </a:p>
                  </a:txBody>
                  <a:tcPr>
                    <a:solidFill>
                      <a:srgbClr val="0F172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FBBF24"/>
                          </a:solidFill>
                        </a:rPr>
                        <a:t>Comparable — fraction of the cost</a:t>
                      </a:r>
                    </a:p>
                  </a:txBody>
                  <a:tcPr>
                    <a:solidFill>
                      <a:srgbClr val="0F172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E2E8F0"/>
                          </a:solidFill>
                        </a:rPr>
                        <a:t>Mobileye EyeQ6 (Level 2+)</a:t>
                      </a:r>
                    </a:p>
                  </a:txBody>
                  <a:tcPr>
                    <a:solidFill>
                      <a:srgbClr val="0F172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E2E8F0"/>
                          </a:solidFill>
                        </a:rPr>
                        <a:t>~10–20 ms</a:t>
                      </a:r>
                    </a:p>
                  </a:txBody>
                  <a:tcPr>
                    <a:solidFill>
                      <a:srgbClr val="0F172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E2E8F0"/>
                          </a:solidFill>
                        </a:rPr>
                        <a:t>Det · lane · collision warning</a:t>
                      </a:r>
                    </a:p>
                  </a:txBody>
                  <a:tcPr>
                    <a:solidFill>
                      <a:srgbClr val="0F172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FBBF24"/>
                          </a:solidFill>
                        </a:rPr>
                        <a:t>Same latency class — ASIC vs GPU</a:t>
                      </a:r>
                    </a:p>
                  </a:txBody>
                  <a:tcPr>
                    <a:solidFill>
                      <a:srgbClr val="0F172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E2E8F0"/>
                          </a:solidFill>
                        </a:rPr>
                        <a:t>NVIDIA DRIVE Orin (full stack)</a:t>
                      </a:r>
                    </a:p>
                  </a:txBody>
                  <a:tcPr>
                    <a:solidFill>
                      <a:srgbClr val="0F172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E2E8F0"/>
                          </a:solidFill>
                        </a:rPr>
                        <a:t>~15–50 ms</a:t>
                      </a:r>
                    </a:p>
                  </a:txBody>
                  <a:tcPr>
                    <a:solidFill>
                      <a:srgbClr val="0F172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E2E8F0"/>
                          </a:solidFill>
                        </a:rPr>
                        <a:t>Multi-sensor · BEV fusion</a:t>
                      </a:r>
                    </a:p>
                  </a:txBody>
                  <a:tcPr>
                    <a:solidFill>
                      <a:srgbClr val="0F172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4ADE80"/>
                          </a:solidFill>
                        </a:rPr>
                        <a:t>Faster net inference · same HW platform</a:t>
                      </a:r>
                    </a:p>
                  </a:txBody>
                  <a:tcPr>
                    <a:solidFill>
                      <a:srgbClr val="0F172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E2E8F0"/>
                          </a:solidFill>
                        </a:rPr>
                        <a:t>Waymo (on-car edge, 2023)</a:t>
                      </a:r>
                    </a:p>
                  </a:txBody>
                  <a:tcPr>
                    <a:solidFill>
                      <a:srgbClr val="0F172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E2E8F0"/>
                          </a:solidFill>
                        </a:rPr>
                        <a:t>~50 ms perception cycle</a:t>
                      </a:r>
                    </a:p>
                  </a:txBody>
                  <a:tcPr>
                    <a:solidFill>
                      <a:srgbClr val="0F172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E2E8F0"/>
                          </a:solidFill>
                        </a:rPr>
                        <a:t>360° det · HD map · prediction</a:t>
                      </a:r>
                    </a:p>
                  </a:txBody>
                  <a:tcPr>
                    <a:solidFill>
                      <a:srgbClr val="0F172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4ADE80"/>
                          </a:solidFill>
                        </a:rPr>
                        <a:t>~6× faster inference budget</a:t>
                      </a:r>
                    </a:p>
                  </a:txBody>
                  <a:tcPr>
                    <a:solidFill>
                      <a:srgbClr val="0F172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E2E8F0"/>
                          </a:solidFill>
                        </a:rPr>
                        <a:t>SAE J3016 L2–L4 guidance</a:t>
                      </a:r>
                    </a:p>
                  </a:txBody>
                  <a:tcPr>
                    <a:solidFill>
                      <a:srgbClr val="0F172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E2E8F0"/>
                          </a:solidFill>
                        </a:rPr>
                        <a:t>&lt; 100 ms recommended</a:t>
                      </a:r>
                    </a:p>
                  </a:txBody>
                  <a:tcPr>
                    <a:solidFill>
                      <a:srgbClr val="0F172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E2E8F0"/>
                          </a:solidFill>
                        </a:rPr>
                        <a:t>Any safety-critical perception task</a:t>
                      </a:r>
                    </a:p>
                  </a:txBody>
                  <a:tcPr>
                    <a:solidFill>
                      <a:srgbClr val="0F172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4ADE80"/>
                          </a:solidFill>
                        </a:rPr>
                        <a:t>12× under threshold (PyTorch)</a:t>
                      </a:r>
                    </a:p>
                  </a:txBody>
                  <a:tcPr>
                    <a:solidFill>
                      <a:srgbClr val="0F172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4ADE80"/>
                          </a:solidFill>
                        </a:rPr>
                        <a:t>Our Model — ResNet-18 TRT FP16 ★</a:t>
                      </a:r>
                    </a:p>
                  </a:txBody>
                  <a:tcPr>
                    <a:solidFill>
                      <a:srgbClr val="0A1F1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4ADE80"/>
                          </a:solidFill>
                        </a:rPr>
                        <a:t>~8 ms proj · 15.9 ms measured</a:t>
                      </a:r>
                    </a:p>
                  </a:txBody>
                  <a:tcPr>
                    <a:solidFill>
                      <a:srgbClr val="0A1F1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4ADE80"/>
                          </a:solidFill>
                        </a:rPr>
                        <a:t>Detection (6 cls) + lane seg</a:t>
                      </a:r>
                    </a:p>
                  </a:txBody>
                  <a:tcPr>
                    <a:solidFill>
                      <a:srgbClr val="0A1F1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4ADE80"/>
                          </a:solidFill>
                        </a:rPr>
                        <a:t>✓ Meets all benchmarks · single pass</a:t>
                      </a:r>
                    </a:p>
                  </a:txBody>
                  <a:tcPr>
                    <a:solidFill>
                      <a:srgbClr val="0A1F12"/>
                    </a:solidFill>
                  </a:tcPr>
                </a:tc>
              </a:tr>
            </a:tbl>
          </a:graphicData>
        </a:graphic>
      </p:graphicFrame>
      <p:sp>
        <p:nvSpPr>
          <p:cNvPr id="33" name="Rectangle 32"/>
          <p:cNvSpPr/>
          <p:nvPr/>
        </p:nvSpPr>
        <p:spPr>
          <a:xfrm>
            <a:off x="274320" y="6236208"/>
            <a:ext cx="2148840" cy="502920"/>
          </a:xfrm>
          <a:prstGeom prst="rect">
            <a:avLst/>
          </a:prstGeom>
          <a:solidFill>
            <a:srgbClr val="0F1725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7472" y="6272784"/>
            <a:ext cx="2002536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4ADE80"/>
                </a:solidFill>
              </a:rPr>
              <a:t>~31× faster than human
reaction (TRT proj.)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601468" y="6236208"/>
            <a:ext cx="2148840" cy="502920"/>
          </a:xfrm>
          <a:prstGeom prst="rect">
            <a:avLst/>
          </a:prstGeom>
          <a:solidFill>
            <a:srgbClr val="0F1725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674620" y="6272784"/>
            <a:ext cx="2002536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4ADE80"/>
                </a:solidFill>
              </a:rPr>
              <a:t>16× faster than human
reaction (PyTorch)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928616" y="6236208"/>
            <a:ext cx="2148840" cy="502920"/>
          </a:xfrm>
          <a:prstGeom prst="rect">
            <a:avLst/>
          </a:prstGeom>
          <a:solidFill>
            <a:srgbClr val="0F1725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01768" y="6272784"/>
            <a:ext cx="2002536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4ADE80"/>
                </a:solidFill>
              </a:rPr>
              <a:t>Single model — 2 tasks,
no stacked overhead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255764" y="6236208"/>
            <a:ext cx="2148840" cy="502920"/>
          </a:xfrm>
          <a:prstGeom prst="rect">
            <a:avLst/>
          </a:prstGeom>
          <a:solidFill>
            <a:srgbClr val="0F1725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28916" y="6272784"/>
            <a:ext cx="2002536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4ADE80"/>
                </a:solidFill>
              </a:rPr>
              <a:t>62.9 FPS baseline —
4× min. robot rate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582912" y="6236208"/>
            <a:ext cx="2148840" cy="502920"/>
          </a:xfrm>
          <a:prstGeom prst="rect">
            <a:avLst/>
          </a:prstGeom>
          <a:solidFill>
            <a:srgbClr val="0F1725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656064" y="6272784"/>
            <a:ext cx="2002536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4ADE80"/>
                </a:solidFill>
              </a:rPr>
              <a:t>Deployable on
~$500 Jetson Orin NX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704320" y="662940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475569"/>
                </a:solidFill>
              </a:rPr>
              <a:t>4 /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